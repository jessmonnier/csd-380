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4" r:id="rId6"/>
    <p:sldId id="268" r:id="rId7"/>
    <p:sldId id="286" r:id="rId8"/>
    <p:sldId id="262" r:id="rId9"/>
    <p:sldId id="292" r:id="rId10"/>
    <p:sldId id="293" r:id="rId11"/>
    <p:sldId id="294" r:id="rId12"/>
    <p:sldId id="295" r:id="rId13"/>
    <p:sldId id="296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3204" autoAdjust="0"/>
  </p:normalViewPr>
  <p:slideViewPr>
    <p:cSldViewPr snapToGrid="0">
      <p:cViewPr varScale="1">
        <p:scale>
          <a:sx n="89" d="100"/>
          <a:sy n="89" d="100"/>
        </p:scale>
        <p:origin x="810" y="300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9/28/2025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9/28/2025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B8D6-F597-40A6-8C23-C00D2322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9647C-FDE1-FDFF-98CE-E49402F1F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EA68E-37DD-7ABD-824E-6C9C827DE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A5A0-5AAE-0302-1892-726740E27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8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48B83-55BF-13BC-5525-803C66742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E64C7-A01F-77E2-C3AD-743A7C51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020FC-70E1-389A-8DC2-ACD22A42A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C40B-D3F9-62DF-CF3B-9436DD59A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22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C6E8-44E6-E7AC-9135-EE6E2040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951D0-F77A-5CFD-D694-0B9D39B7F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4C516-2A4A-5D2C-6C81-20EFCFBEB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81436-BEE1-2B2B-41FC-2DC43FF11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74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75CC3-C816-7203-C6F9-2112AE6F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B3F3B-FA62-4D3D-08E1-F324BA881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DB5ED-8144-208F-E635-79091BC0C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F7FF-6A1E-3BD7-F2AE-5BD1102CA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526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36/bmjoq-2022-00223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humanisticsystems.com/2023/10/18/why-is-it-just-so-difficult-barriers-to-just-culture-in-the-real-world/?utm_source=chatgpt.com" TargetMode="External"/><Relationship Id="rId4" Type="http://schemas.openxmlformats.org/officeDocument/2006/relationships/hyperlink" Target="https://trailhead.salesforce.com/content/learn/modules/continuous-innovation-with-copado/understand-the-role-of-culture-and-resilience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Barriers to Just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4A59F-C14A-B9AF-3A0F-7F175B4E0746}"/>
              </a:ext>
            </a:extLst>
          </p:cNvPr>
          <p:cNvSpPr txBox="1">
            <a:spLocks/>
          </p:cNvSpPr>
          <p:nvPr/>
        </p:nvSpPr>
        <p:spPr>
          <a:xfrm>
            <a:off x="5962701" y="3516858"/>
            <a:ext cx="4360434" cy="19515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>
                <a:solidFill>
                  <a:schemeClr val="bg1"/>
                </a:solidFill>
              </a:rPr>
              <a:t>Jess Monnier</a:t>
            </a:r>
          </a:p>
          <a:p>
            <a:pPr marL="0" indent="0" algn="r">
              <a:buNone/>
            </a:pPr>
            <a:r>
              <a:rPr lang="en-US" dirty="0">
                <a:solidFill>
                  <a:schemeClr val="bg1"/>
                </a:solidFill>
              </a:rPr>
              <a:t>CSD-380 Assignment 9.2</a:t>
            </a:r>
          </a:p>
          <a:p>
            <a:pPr marL="0" indent="0" algn="r">
              <a:buNone/>
            </a:pPr>
            <a:r>
              <a:rPr lang="en-US" dirty="0">
                <a:solidFill>
                  <a:schemeClr val="bg1"/>
                </a:solidFill>
              </a:rPr>
              <a:t>28 September 2025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What Is a Just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2495774"/>
            <a:ext cx="6597650" cy="38589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A culture that distinguishes human error from blameworthy actions. 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Focuses on learning, system improvement, and psychological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Balances accountability with empathy</a:t>
            </a:r>
          </a:p>
          <a:p>
            <a:r>
              <a:rPr lang="en-US" dirty="0"/>
              <a:t>“</a:t>
            </a:r>
            <a:r>
              <a:rPr lang="en-US" i="1" dirty="0"/>
              <a:t>At the heart of Just Culture lies a simple acknowledgment: we all make mistakes</a:t>
            </a:r>
            <a:r>
              <a:rPr lang="en-US" dirty="0"/>
              <a:t>.” (Shorrock, 2023)</a:t>
            </a:r>
          </a:p>
          <a:p>
            <a:r>
              <a:rPr lang="en-US" dirty="0"/>
              <a:t>Also known as </a:t>
            </a:r>
            <a:r>
              <a:rPr lang="en-US" b="1" dirty="0"/>
              <a:t>generative culture</a:t>
            </a:r>
            <a:r>
              <a:rPr lang="en-US" dirty="0"/>
              <a:t>, or a culture that: is performance-oriented and highly cooperative, trains its “messengers” (reporters of issues), shares responsibilities, encourages collaboration, and responds to failure with inquiry.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Why Just Culture Matters in DevOps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9803242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Fast-paced environments = more frequent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 error is inevitable, but especially in increasingly complex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Fear of blame suppresses reporting and stifles innovation, leading to repeated and worsening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Incident response and CI/CD pipelines cannot be fully effective if people are worried about being blamed for mistakes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Barrier 1: Leadership Misalignment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5172" y="3253740"/>
            <a:ext cx="8351348" cy="3006531"/>
          </a:xfrm>
        </p:spPr>
        <p:txBody>
          <a:bodyPr>
            <a:normAutofit/>
          </a:bodyPr>
          <a:lstStyle/>
          <a:p>
            <a:r>
              <a:rPr lang="en-US" dirty="0"/>
              <a:t>Leaders signal what’s safe to talk about… or what </a:t>
            </a:r>
            <a:r>
              <a:rPr lang="en-US" i="1" dirty="0"/>
              <a:t>isn’t</a:t>
            </a:r>
            <a:r>
              <a:rPr lang="en-US" dirty="0"/>
              <a:t> safe to talk about.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Failure to model openness blocks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Surface-level buy-in without behavioral change will not work; team members will see through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Leadership that punishes mistakes creates an impassable barrier to an effective just culture.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r>
              <a:rPr lang="en-US" dirty="0"/>
              <a:t>Barrier 2: Legacy Blame Culture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346752" y="2434484"/>
            <a:ext cx="8068019" cy="857356"/>
          </a:xfrm>
        </p:spPr>
        <p:txBody>
          <a:bodyPr>
            <a:normAutofit/>
          </a:bodyPr>
          <a:lstStyle/>
          <a:p>
            <a:r>
              <a:rPr lang="en-US" dirty="0"/>
              <a:t>Existing culture is often rooted in fear, defensiveness, and control.</a:t>
            </a:r>
          </a:p>
          <a:p>
            <a:r>
              <a:rPr lang="en-US" dirty="0"/>
              <a:t>May come in two varieties: pathological or bureaucratic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B64E0-C972-A481-D650-F67649D36627}"/>
              </a:ext>
            </a:extLst>
          </p:cNvPr>
          <p:cNvSpPr txBox="1"/>
          <p:nvPr/>
        </p:nvSpPr>
        <p:spPr>
          <a:xfrm>
            <a:off x="3346752" y="3350472"/>
            <a:ext cx="37425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Pathological: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Power-oriented, low cooperation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“Shoot the messenger”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Responsibilities shirked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Collaboration discouraged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Failure leads to scapegoating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A044C-AA62-C794-09DA-1B5820AD8580}"/>
              </a:ext>
            </a:extLst>
          </p:cNvPr>
          <p:cNvSpPr txBox="1"/>
          <p:nvPr/>
        </p:nvSpPr>
        <p:spPr>
          <a:xfrm>
            <a:off x="7089289" y="3350472"/>
            <a:ext cx="37425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Bureaucratic: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Rule-oriented, modest cooperation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Messengers are neglected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Responsibilities are limited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Collaboration “tolerated”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Failure leads to justice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3AE84DE-67A2-803C-DFAF-F565DB934FC0}"/>
              </a:ext>
            </a:extLst>
          </p:cNvPr>
          <p:cNvSpPr txBox="1">
            <a:spLocks/>
          </p:cNvSpPr>
          <p:nvPr/>
        </p:nvSpPr>
        <p:spPr>
          <a:xfrm>
            <a:off x="3400525" y="5845671"/>
            <a:ext cx="8068019" cy="857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Bureaucratic is a step up from pathological, but the goal is a generative or just culture.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Barrier 3: Lack of System Resilience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417197"/>
            <a:ext cx="10663375" cy="3737541"/>
          </a:xfrm>
        </p:spPr>
        <p:txBody>
          <a:bodyPr/>
          <a:lstStyle/>
          <a:p>
            <a:r>
              <a:rPr lang="en-US" dirty="0"/>
              <a:t>Brittle systems raise the cost of failure.</a:t>
            </a:r>
          </a:p>
          <a:p>
            <a:r>
              <a:rPr lang="en-US" dirty="0"/>
              <a:t>If there are no safe points to roll back to, deployment stakes become overly high.</a:t>
            </a:r>
          </a:p>
          <a:p>
            <a:r>
              <a:rPr lang="en-US" dirty="0"/>
              <a:t>Engineers become increasingly risk averse.</a:t>
            </a:r>
          </a:p>
          <a:p>
            <a:r>
              <a:rPr lang="en-US" dirty="0"/>
              <a:t>This can lead to a fear of touching production.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BAB9-DA7F-0521-CA54-2F41B29C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3B9D-B68E-8964-F7AC-E6BA7CBD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Barrier 4: Ambiguity Around Accountability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F8B53B-D682-034D-2F3C-0CDDD1D57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5172" y="3253740"/>
            <a:ext cx="8351348" cy="3006531"/>
          </a:xfrm>
        </p:spPr>
        <p:txBody>
          <a:bodyPr>
            <a:normAutofit/>
          </a:bodyPr>
          <a:lstStyle/>
          <a:p>
            <a:r>
              <a:rPr lang="en-US" dirty="0"/>
              <a:t>Organizations often suffer a lack of clarity between human error, risky behavior, and misconduct.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this lack of clear frameworks, accountability becomes arbitrary.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Blame often lands unfairly on individuals.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amplifies other challenges and barriers to a just culture.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70936F0-5426-2CA0-BED0-B86F0964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41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5A2D-30A0-4F40-4474-8EC8745F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7F6B-3CFA-F794-5D5F-F34EF6E1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Barrier 5: Communication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E5E7-1031-95BB-0CC5-EE32B03146A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Silence does not (or should not) equal safety, but team members fearing consequences may feel that it does.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safe spaces for reporting incidents or discussing near misses encourages this silence.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Feedback loops collapse and mistakes are repeated.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often paired with a lack of documentation or shared learning.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34486-248C-255A-5945-9F4BC937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17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E2DC-AA1B-A52B-6ED3-F9F4438C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AFFE96-81F3-18F2-C17A-F4135464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Mitigation Strategies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10C1F-4695-A1D8-600E-FD8E0A1E603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258568"/>
            <a:ext cx="9803242" cy="38374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So how do we get around these barriers? Here are some strategies: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Leadership modeling of vulnerability and openness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Blameless postmortems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 and training around clarified expectations and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incident analysis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Investments in resilience (version control, rollback, reproducible infrastructure)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Promotion of generative culture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ACA67-D92D-8077-9B18-4F59F585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38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15DB-92AB-F92C-74F0-D86BF81D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0263-9DF5-A145-96A2-BCD7F114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903B34-C40C-B150-6FF5-3E39FAE09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5172" y="3253740"/>
            <a:ext cx="8351348" cy="300653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goal should be to move from “who broke it?” to “what allowed this to happen?”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a culture is deliberate, not accidental.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changes in teams talk about failure can create big shifts.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Inviting feedback, questions, and the sharing of stories can help shift culture toward the more just, effective environment that will help your organization evolve.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E30791E-DD16-F032-8029-040FCC84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5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4" y="2481940"/>
            <a:ext cx="10216291" cy="3635831"/>
          </a:xfrm>
        </p:spPr>
        <p:txBody>
          <a:bodyPr>
            <a:normAutofit/>
          </a:bodyPr>
          <a:lstStyle/>
          <a:p>
            <a:pPr marL="461963" indent="-461963"/>
            <a:r>
              <a:rPr lang="en-US" dirty="0"/>
              <a:t>Murray, J. S., Lee, J., Larson, S., Range, A., Scott, D., &amp; Clifford, J. (2023). </a:t>
            </a:r>
            <a:r>
              <a:rPr lang="en-US" i="1" dirty="0"/>
              <a:t>Requirements for implementing a ‘just culture’ within healthcare </a:t>
            </a:r>
            <a:r>
              <a:rPr lang="en-US" i="1" dirty="0" err="1"/>
              <a:t>organisations</a:t>
            </a:r>
            <a:r>
              <a:rPr lang="en-US" i="1" dirty="0"/>
              <a:t>: An integrative review</a:t>
            </a:r>
            <a:r>
              <a:rPr lang="en-US" dirty="0"/>
              <a:t>. BMJ Open Quality, 12(2), e002237.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https://doi.org/10.1136/bmjoq-2022-002237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461963" indent="-461963"/>
            <a:r>
              <a:rPr lang="en-US" dirty="0"/>
              <a:t>Salesforce. (n.d.). </a:t>
            </a:r>
            <a:r>
              <a:rPr lang="en-US" i="1" dirty="0"/>
              <a:t>Understand the Role of Culture and Resilience</a:t>
            </a:r>
            <a:r>
              <a:rPr lang="en-US" dirty="0"/>
              <a:t> [Module]. In </a:t>
            </a:r>
            <a:r>
              <a:rPr lang="en-US" i="1" dirty="0"/>
              <a:t>Continuous Innovation with Copado</a:t>
            </a:r>
            <a:r>
              <a:rPr lang="en-US" dirty="0"/>
              <a:t>. Salesforce Trailhead. Retrieved from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https://trailhead.salesforce.com/content/learn/modules/continuous-innovation-with-copado/understand-the-role-of-culture-and-resilience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461963" indent="-461963"/>
            <a:r>
              <a:rPr lang="en-US" dirty="0"/>
              <a:t>Shorrock, S. (2023, October 18). </a:t>
            </a:r>
            <a:r>
              <a:rPr lang="en-US" i="1" dirty="0"/>
              <a:t>Why Is It Just So Difficult? Barriers to ‘Just Culture’ in the Real World</a:t>
            </a:r>
            <a:r>
              <a:rPr lang="en-US" dirty="0"/>
              <a:t>. Humanistic Systems. Retrieved from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https://humanisticsystems.com/2023/10/18/why-is-it-just-so-difficult-barriers-to-just-culture-in-the-real-world/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{10A4207F-46AA-446D-9B0B-0D8A3110FB9A}TF55c86556-70ea-476e-aa05-13a38f2d5b0da1381d77_win32-a3c664429073</Template>
  <TotalTime>40</TotalTime>
  <Words>767</Words>
  <Application>Microsoft Office PowerPoint</Application>
  <PresentationFormat>Widescreen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Calibri</vt:lpstr>
      <vt:lpstr>Custom</vt:lpstr>
      <vt:lpstr>Barriers to Just Culture</vt:lpstr>
      <vt:lpstr>What Is a Just Culture?</vt:lpstr>
      <vt:lpstr>Why Just Culture Matters in DevOps</vt:lpstr>
      <vt:lpstr>Barrier 1: Leadership Misalignment</vt:lpstr>
      <vt:lpstr>Barrier 2: Legacy Blame Culture</vt:lpstr>
      <vt:lpstr>Barrier 3: Lack of System Resilience</vt:lpstr>
      <vt:lpstr>Barrier 4: Ambiguity Around Accountability</vt:lpstr>
      <vt:lpstr>Barrier 5: Communication Breakdown</vt:lpstr>
      <vt:lpstr>Mitigation Strategies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 Monnier</dc:creator>
  <cp:lastModifiedBy>Jess Monnier</cp:lastModifiedBy>
  <cp:revision>1</cp:revision>
  <dcterms:created xsi:type="dcterms:W3CDTF">2025-09-29T00:17:36Z</dcterms:created>
  <dcterms:modified xsi:type="dcterms:W3CDTF">2025-09-29T00:57:38Z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