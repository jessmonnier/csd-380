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6"/>
  </p:notesMasterIdLst>
  <p:handoutMasterIdLst>
    <p:handoutMasterId r:id="rId17"/>
  </p:handoutMasterIdLst>
  <p:sldIdLst>
    <p:sldId id="289" r:id="rId5"/>
    <p:sldId id="288" r:id="rId6"/>
    <p:sldId id="261" r:id="rId7"/>
    <p:sldId id="264" r:id="rId8"/>
    <p:sldId id="265" r:id="rId9"/>
    <p:sldId id="263" r:id="rId10"/>
    <p:sldId id="266" r:id="rId11"/>
    <p:sldId id="290" r:id="rId12"/>
    <p:sldId id="291" r:id="rId13"/>
    <p:sldId id="292" r:id="rId14"/>
    <p:sldId id="29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9" autoAdjust="0"/>
    <p:restoredTop sz="94694" autoAdjust="0"/>
  </p:normalViewPr>
  <p:slideViewPr>
    <p:cSldViewPr snapToGrid="0">
      <p:cViewPr varScale="1">
        <p:scale>
          <a:sx n="91" d="100"/>
          <a:sy n="91" d="100"/>
        </p:scale>
        <p:origin x="726" y="3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69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73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3A15B-B076-14D0-1B2E-1CE5CDA43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225BA-7877-F1EB-852F-4FCB7DAB1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53F81F-3B95-EE3E-3652-1FF7CE753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6F463-003E-B2F5-6A5A-BE17C56398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9584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3B5D5-741E-B5B8-07F0-DED6B796C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422491-54F9-0FC6-CCF9-51F9CB9B5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7CE1BB-F973-54F4-1976-E06B70FF1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2BD95-7A75-2AE2-D107-3A2624F10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38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9E2B0-6445-0275-17F7-6368681CD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524B44-B2F7-FBAD-762A-2B11A6431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2EEC49-51D5-F4D8-8A62-B97BED1B8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4D571-3C8F-4A37-AC6A-9D80072D2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507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6F056-DBB8-AC31-952B-4D0234866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AF2E88-A677-407D-2F09-F7F8D0F2C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F08544-56F1-5AE8-0BC4-1E721F7C5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978F7-3E08-251E-44DD-5638F233A5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59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5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23740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566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46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680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800"/>
            </a:lvl2pPr>
            <a:lvl3pPr>
              <a:spcBef>
                <a:spcPts val="1000"/>
              </a:spcBef>
              <a:spcAft>
                <a:spcPts val="500"/>
              </a:spcAft>
              <a:defRPr sz="1800"/>
            </a:lvl3pPr>
            <a:lvl4pPr>
              <a:spcBef>
                <a:spcPts val="1000"/>
              </a:spcBef>
              <a:spcAft>
                <a:spcPts val="500"/>
              </a:spcAft>
              <a:defRPr sz="1800"/>
            </a:lvl4pPr>
            <a:lvl5pPr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89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3" r:id="rId14"/>
    <p:sldLayoutId id="2147483685" r:id="rId15"/>
    <p:sldLayoutId id="2147483686" r:id="rId16"/>
    <p:sldLayoutId id="2147483687" r:id="rId17"/>
    <p:sldLayoutId id="214748368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irehydrant.com/blog/best-practices-for-creating-on-call-rotations-and-schedules/?utm_source=chatgpt.com" TargetMode="External"/><Relationship Id="rId7" Type="http://schemas.openxmlformats.org/officeDocument/2006/relationships/hyperlink" Target="https://medium.com/%40squadcast/on-call-rotation-a-complete-guide-to-best-practices-997b0da54499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medium.com/@squadcast/on-call-rotation-a-complete-guide-to-best-practices-997b0da54499" TargetMode="External"/><Relationship Id="rId5" Type="http://schemas.openxmlformats.org/officeDocument/2006/relationships/hyperlink" Target="https://www.pagerduty.com/resources/incident-management-response/learn/call-rotations-schedules/?utm_source=chatgpt.com" TargetMode="External"/><Relationship Id="rId4" Type="http://schemas.openxmlformats.org/officeDocument/2006/relationships/hyperlink" Target="https://firehydrant.com/blog/best-practices-for-creating-on-call-rotations-and-schedul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Pager Duty/On-Call Rotation Best Practices</a:t>
            </a:r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42EB0F0-2F85-73C9-D94A-052006FC2CB2}"/>
              </a:ext>
            </a:extLst>
          </p:cNvPr>
          <p:cNvSpPr txBox="1">
            <a:spLocks/>
          </p:cNvSpPr>
          <p:nvPr/>
        </p:nvSpPr>
        <p:spPr>
          <a:xfrm>
            <a:off x="857468" y="4146266"/>
            <a:ext cx="5028565" cy="1894972"/>
          </a:xfrm>
          <a:prstGeom prst="rect">
            <a:avLst/>
          </a:prstGeom>
          <a:noFill/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Jess Monnier   |    20 Sep 25</a:t>
            </a:r>
          </a:p>
          <a:p>
            <a:pPr marL="0" indent="0">
              <a:buNone/>
            </a:pPr>
            <a:r>
              <a:rPr lang="en-US" dirty="0"/>
              <a:t>CSD-380 Assignment 7.2</a:t>
            </a:r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ctr">
            <a:normAutofit/>
          </a:bodyPr>
          <a:lstStyle/>
          <a:p>
            <a:r>
              <a:rPr lang="en-US" dirty="0"/>
              <a:t>Definition</a:t>
            </a:r>
          </a:p>
          <a:p>
            <a:r>
              <a:rPr lang="en-US" dirty="0"/>
              <a:t>Key Components</a:t>
            </a:r>
          </a:p>
          <a:p>
            <a:r>
              <a:rPr lang="en-US" dirty="0"/>
              <a:t>Reducing Burnout &amp; Increasing Fairness</a:t>
            </a:r>
          </a:p>
          <a:p>
            <a:r>
              <a:rPr lang="en-US" dirty="0"/>
              <a:t>Alert Fatigue &amp; Load Optimization</a:t>
            </a:r>
          </a:p>
          <a:p>
            <a:r>
              <a:rPr lang="en-US" dirty="0"/>
              <a:t>Handoffs, Documentation, Reviews</a:t>
            </a:r>
          </a:p>
          <a:p>
            <a:r>
              <a:rPr lang="en-US" dirty="0"/>
              <a:t>Tools &amp; Automation</a:t>
            </a:r>
          </a:p>
          <a:p>
            <a:r>
              <a:rPr lang="en-US" dirty="0"/>
              <a:t>Models &amp; Scheduling Variants</a:t>
            </a:r>
          </a:p>
          <a:p>
            <a:r>
              <a:rPr lang="en-US" dirty="0"/>
              <a:t>Summary &amp; Recommendations</a:t>
            </a:r>
          </a:p>
          <a:p>
            <a:r>
              <a:rPr lang="en-US" dirty="0"/>
              <a:t>References</a:t>
            </a:r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What Is On-Call Rotation?</a:t>
            </a:r>
          </a:p>
        </p:txBody>
      </p:sp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Also known as “pager duty rotation,” presumably a call-back to days when on-call doctors used pagers for alerts to pull them in for work.</a:t>
            </a:r>
          </a:p>
          <a:p>
            <a:r>
              <a:rPr lang="en-US" dirty="0"/>
              <a:t>It is a schedule that assigns a group of engineers to be available outside regular working hours (such as overnight or on weekends) to monitor systems and respond to incidents.</a:t>
            </a:r>
          </a:p>
          <a:p>
            <a:r>
              <a:rPr lang="en-US" dirty="0"/>
              <a:t>Key purposes:</a:t>
            </a:r>
          </a:p>
          <a:p>
            <a:pPr lvl="1"/>
            <a:r>
              <a:rPr lang="en-US" dirty="0"/>
              <a:t>Ensure business continuity</a:t>
            </a:r>
          </a:p>
          <a:p>
            <a:pPr lvl="1"/>
            <a:r>
              <a:rPr lang="en-US" dirty="0"/>
              <a:t>Meet service-level agreements (SLAs)</a:t>
            </a:r>
          </a:p>
          <a:p>
            <a:pPr lvl="1"/>
            <a:r>
              <a:rPr lang="en-US" dirty="0"/>
              <a:t>Minimize downtime and customer impact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Key Components: Make it Effective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4961" y="2032663"/>
            <a:ext cx="10116818" cy="4067492"/>
          </a:xfrm>
          <a:solidFill>
            <a:schemeClr val="bg1"/>
          </a:solidFill>
        </p:spPr>
        <p:txBody>
          <a:bodyPr>
            <a:normAutofit/>
          </a:bodyPr>
          <a:lstStyle/>
          <a:p>
            <a:pPr lvl="1"/>
            <a:r>
              <a:rPr lang="en-US" dirty="0"/>
              <a:t>Rotation cadence: determine how often shifts rotate (depends on team size and load).</a:t>
            </a:r>
          </a:p>
          <a:p>
            <a:pPr lvl="2"/>
            <a:r>
              <a:rPr lang="en-US" dirty="0"/>
              <a:t>Could be daily, weekly, quarterly, etc.</a:t>
            </a:r>
          </a:p>
          <a:p>
            <a:pPr lvl="1"/>
            <a:r>
              <a:rPr lang="en-US" dirty="0"/>
              <a:t>Primary &amp; secondary coverage: ensure there is backup and/or escalation paths so incidents don’t stall if the first responder is unavailable or unable to respond in a timely fashion.</a:t>
            </a:r>
          </a:p>
          <a:p>
            <a:pPr lvl="1"/>
            <a:r>
              <a:rPr lang="en-US" dirty="0"/>
              <a:t>Time zone/geographical coverage: stagger schedules or use a “follow the sun” model (more on that later) to reduce off-hours burden.</a:t>
            </a:r>
          </a:p>
          <a:p>
            <a:pPr lvl="2"/>
            <a:r>
              <a:rPr lang="en-US" dirty="0"/>
              <a:t>This only really works in large, globally operating teams.</a:t>
            </a:r>
          </a:p>
          <a:p>
            <a:pPr lvl="1"/>
            <a:r>
              <a:rPr lang="en-US" dirty="0"/>
              <a:t>Account for time off: vacations, sick days, unforeseen absences – plan for these.</a:t>
            </a:r>
          </a:p>
          <a:p>
            <a:pPr lvl="2"/>
            <a:r>
              <a:rPr lang="en-US" dirty="0"/>
              <a:t>Often called “overriding” the schedule.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Reducing Burnout &amp; Increasing Fairness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579" y="2087315"/>
            <a:ext cx="10384221" cy="4067492"/>
          </a:xfrm>
          <a:noFill/>
        </p:spPr>
        <p:txBody>
          <a:bodyPr>
            <a:normAutofit/>
          </a:bodyPr>
          <a:lstStyle/>
          <a:p>
            <a:pPr lvl="1"/>
            <a:r>
              <a:rPr lang="en-US" dirty="0"/>
              <a:t>Balance workloads to avoid overloading the same people.</a:t>
            </a:r>
          </a:p>
          <a:p>
            <a:pPr lvl="2"/>
            <a:r>
              <a:rPr lang="en-US" dirty="0"/>
              <a:t>Reduce total “on-call + normal work” load.</a:t>
            </a:r>
          </a:p>
          <a:p>
            <a:pPr lvl="1"/>
            <a:r>
              <a:rPr lang="en-US" dirty="0"/>
              <a:t>Avoid or minimize night shifts where possible.</a:t>
            </a:r>
          </a:p>
          <a:p>
            <a:pPr lvl="2"/>
            <a:r>
              <a:rPr lang="en-US" dirty="0"/>
              <a:t>When they must occur, allow for a lighter schedule afterward or some other form of support.</a:t>
            </a:r>
          </a:p>
          <a:p>
            <a:pPr lvl="1"/>
            <a:r>
              <a:rPr lang="en-US" dirty="0"/>
              <a:t>Communicate expectations early and often.</a:t>
            </a:r>
          </a:p>
          <a:p>
            <a:pPr lvl="1"/>
            <a:r>
              <a:rPr lang="en-US" dirty="0"/>
              <a:t>Involve team input on scheduling preferences.</a:t>
            </a:r>
          </a:p>
          <a:p>
            <a:pPr lvl="1"/>
            <a:r>
              <a:rPr lang="en-US" dirty="0"/>
              <a:t>Define responsibilities clearly.</a:t>
            </a:r>
          </a:p>
          <a:p>
            <a:pPr lvl="2"/>
            <a:r>
              <a:rPr lang="en-US" dirty="0"/>
              <a:t>What “on-call” means for your company, what tools are available,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Alert Fatigue &amp; Load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Tune alerts to mitigate alert fatigue:</a:t>
            </a:r>
          </a:p>
          <a:p>
            <a:pPr marL="971550" lvl="1" indent="-285750"/>
            <a:r>
              <a:rPr lang="en-US" dirty="0"/>
              <a:t>Reduce false positives.</a:t>
            </a:r>
          </a:p>
          <a:p>
            <a:pPr marL="971550" lvl="1" indent="-285750"/>
            <a:r>
              <a:rPr lang="en-US" dirty="0"/>
              <a:t>Set thresholds so only meaningful alerts wake people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 where possible.</a:t>
            </a:r>
          </a:p>
          <a:p>
            <a:pPr marL="971550" lvl="1" indent="-285750"/>
            <a:r>
              <a:rPr lang="en-US" dirty="0"/>
              <a:t>For known or common issues, for example.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Optimize pager load:</a:t>
            </a:r>
          </a:p>
          <a:p>
            <a:pPr marL="971550" lvl="1" indent="-285750"/>
            <a:r>
              <a:rPr lang="en-US" dirty="0"/>
              <a:t>Distribute alerts evenly.</a:t>
            </a:r>
          </a:p>
          <a:p>
            <a:pPr marL="971550" lvl="1" indent="-285750"/>
            <a:r>
              <a:rPr lang="en-US" dirty="0"/>
              <a:t>Use backup escalation so individuals are not overwhelmed.</a:t>
            </a:r>
          </a:p>
        </p:txBody>
      </p:sp>
      <p:pic>
        <p:nvPicPr>
          <p:cNvPr id="20" name="Picture Placeholder 19" descr="City lights at night">
            <a:extLst>
              <a:ext uri="{FF2B5EF4-FFF2-40B4-BE49-F238E27FC236}">
                <a16:creationId xmlns:a16="http://schemas.microsoft.com/office/drawing/2014/main" id="{E5D7764F-CE06-1A00-3555-ACAE6ACDFE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/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Handoffs, Documentation, Reviews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8200" y="1987669"/>
            <a:ext cx="10870324" cy="429767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dirty="0"/>
              <a:t>Implement handoffs, or formalized transitions between shifts. Pass along:</a:t>
            </a:r>
          </a:p>
          <a:p>
            <a:pPr lvl="2"/>
            <a:r>
              <a:rPr lang="en-US" dirty="0"/>
              <a:t>Records of outstanding issues and resolved items.</a:t>
            </a:r>
          </a:p>
          <a:p>
            <a:pPr lvl="2"/>
            <a:r>
              <a:rPr lang="en-US" dirty="0"/>
              <a:t>What to watch out for.</a:t>
            </a:r>
          </a:p>
          <a:p>
            <a:pPr lvl="1"/>
            <a:r>
              <a:rPr lang="en-US" dirty="0"/>
              <a:t>Keep good runbooks &amp; documentation: </a:t>
            </a:r>
          </a:p>
          <a:p>
            <a:pPr lvl="2"/>
            <a:r>
              <a:rPr lang="en-US" dirty="0"/>
              <a:t>Up-to-date troubleshooting steps</a:t>
            </a:r>
          </a:p>
          <a:p>
            <a:pPr lvl="2"/>
            <a:r>
              <a:rPr lang="en-US" dirty="0"/>
              <a:t>Known issues</a:t>
            </a:r>
          </a:p>
          <a:p>
            <a:pPr lvl="2"/>
            <a:r>
              <a:rPr lang="en-US" dirty="0"/>
              <a:t>Service configurations</a:t>
            </a:r>
          </a:p>
          <a:p>
            <a:pPr lvl="1"/>
            <a:r>
              <a:rPr lang="en-US" dirty="0"/>
              <a:t>Post-mortems/reviews: regular reviews after recent incidents to learn, improve processes, adjust alerting, etc.</a:t>
            </a:r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A17F1-5C6F-C86E-29AB-F66030384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BACFE-4A1E-D41A-D5EB-296BBB015F75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Tools &amp; Automations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4C808-8BF2-0BFC-2CD4-82B29B4EDE3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8200" y="1987669"/>
            <a:ext cx="10870324" cy="429767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dirty="0"/>
              <a:t>Use scheduling tools or platforms (such as PagerDuty) to manage rotations, escalations, overrides, etc.</a:t>
            </a:r>
          </a:p>
          <a:p>
            <a:pPr lvl="1"/>
            <a:r>
              <a:rPr lang="en-US" dirty="0"/>
              <a:t>Automate runbooks, alert routing, and escalation rules, removing all manual steps wherever possible.</a:t>
            </a:r>
          </a:p>
          <a:p>
            <a:pPr lvl="1"/>
            <a:r>
              <a:rPr lang="en-US" dirty="0"/>
              <a:t>Track alert counts, response times, on-call load and other analytics.</a:t>
            </a:r>
          </a:p>
          <a:p>
            <a:pPr lvl="2"/>
            <a:r>
              <a:rPr lang="en-US" dirty="0"/>
              <a:t>These analytics and monitoring practices help detect imbalances or fatigue.</a:t>
            </a:r>
          </a:p>
        </p:txBody>
      </p:sp>
    </p:spTree>
    <p:extLst>
      <p:ext uri="{BB962C8B-B14F-4D97-AF65-F5344CB8AC3E}">
        <p14:creationId xmlns:p14="http://schemas.microsoft.com/office/powerpoint/2010/main" val="4280531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2B22E5-4FAF-273E-B2B9-454DA7E39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D6309531-94CD-4CF6-AACE-80EC085E0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E66740-44AE-4BB5-A097-955E1FDCC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6159" y="685800"/>
            <a:ext cx="6238688" cy="13822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/>
              <a:t>Models &amp; Scheduling Variants</a:t>
            </a:r>
          </a:p>
        </p:txBody>
      </p:sp>
      <p:pic>
        <p:nvPicPr>
          <p:cNvPr id="24" name="Picture Placeholder 7" descr="Angled photo Passing car lights on a curve.">
            <a:extLst>
              <a:ext uri="{FF2B5EF4-FFF2-40B4-BE49-F238E27FC236}">
                <a16:creationId xmlns:a16="http://schemas.microsoft.com/office/drawing/2014/main" id="{D1C4C086-51C9-C5DA-6122-1468234F3ED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87" r="25889" b="2"/>
          <a:stretch>
            <a:fillRect/>
          </a:stretch>
        </p:blipFill>
        <p:spPr>
          <a:xfrm>
            <a:off x="20" y="-7444"/>
            <a:ext cx="4966427" cy="6874330"/>
          </a:xfrm>
          <a:custGeom>
            <a:avLst/>
            <a:gdLst/>
            <a:ahLst/>
            <a:cxnLst/>
            <a:rect l="l" t="t" r="r" b="b"/>
            <a:pathLst>
              <a:path w="4966447" h="6874330">
                <a:moveTo>
                  <a:pt x="0" y="0"/>
                </a:moveTo>
                <a:lnTo>
                  <a:pt x="4966447" y="0"/>
                </a:lnTo>
                <a:lnTo>
                  <a:pt x="3355712" y="6874330"/>
                </a:lnTo>
                <a:lnTo>
                  <a:pt x="0" y="6874330"/>
                </a:lnTo>
                <a:close/>
              </a:path>
            </a:pathLst>
          </a:cu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CEBF4-F840-A44C-FC9F-8CC6F26FA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6158" y="2301949"/>
            <a:ext cx="6238687" cy="402265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Follow the Sun Model: Teams in different geographies cover each other’s “nighttime,” reducing off-hours burden.</a:t>
            </a:r>
          </a:p>
          <a:p>
            <a:pPr>
              <a:lnSpc>
                <a:spcPct val="90000"/>
              </a:lnSpc>
            </a:pPr>
            <a:r>
              <a:rPr lang="en-US" dirty="0"/>
              <a:t>Single-region scheduling: Staggered shifts, with members rotating through types of shifts (day, evening, night).</a:t>
            </a:r>
          </a:p>
          <a:p>
            <a:pPr>
              <a:lnSpc>
                <a:spcPct val="90000"/>
              </a:lnSpc>
            </a:pPr>
            <a:r>
              <a:rPr lang="en-US" dirty="0"/>
              <a:t>Responsibility-based schedules: Split shifts by service, domain, or responsibility so specialists respond to what they know.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Strong metrics can help refine this sort of scheduling by determining when a skillset is most likely to be needed.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75BF611-D2A5-4454-8C47-95B0BC422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627455" y="-19394"/>
            <a:ext cx="806149" cy="687739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815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2231E-68C1-880D-3A14-3E853B6FA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EC44A-90C5-0DA9-F266-0CC0AC41D2D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Summary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29CE5-1596-9F10-5B68-D7174625B23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8200" y="1987669"/>
            <a:ext cx="10870324" cy="429767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dirty="0"/>
              <a:t>Effective on-call rotations are essential for reliability, customer trust, and meeting SLAs.</a:t>
            </a:r>
          </a:p>
          <a:p>
            <a:pPr lvl="1"/>
            <a:r>
              <a:rPr lang="en-US" dirty="0"/>
              <a:t>Key principles to uphold: fairness, clarity, automation, and balance.</a:t>
            </a:r>
          </a:p>
          <a:p>
            <a:pPr lvl="1"/>
            <a:r>
              <a:rPr lang="en-US" dirty="0"/>
              <a:t>Use data to continuously iterate (measure alert loads, response times, team feedback).</a:t>
            </a:r>
          </a:p>
          <a:p>
            <a:pPr lvl="1"/>
            <a:r>
              <a:rPr lang="en-US" dirty="0"/>
              <a:t>Invest in tooling and proper documentation (runbooks, handoffs).</a:t>
            </a:r>
          </a:p>
          <a:p>
            <a:pPr lvl="1"/>
            <a:r>
              <a:rPr lang="en-US" dirty="0"/>
              <a:t>Ensure support structures are in place for off-hours burdens (e.g. backup, rest, schedule adjustments).</a:t>
            </a:r>
          </a:p>
        </p:txBody>
      </p:sp>
    </p:spTree>
    <p:extLst>
      <p:ext uri="{BB962C8B-B14F-4D97-AF65-F5344CB8AC3E}">
        <p14:creationId xmlns:p14="http://schemas.microsoft.com/office/powerpoint/2010/main" val="1680439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B56B1-B592-9954-65AF-711943FB6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D8748-8075-B0CB-8108-3BE63B396DD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18AF22-4632-E260-6CE9-2DE388347BEB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838200" y="2843570"/>
            <a:ext cx="1010031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68325" lvl="1" indent="-452438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FireHydrant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Team. (2024, August 13).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Practices for Creating On‑Call Rotations and Schedules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FireHydrant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Retrieved from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https://firehydrant.com/blog/best-practices-for-creating-on-call-rotations-and-schedules/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FireHydrant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568325" lvl="1" indent="-452438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PagerDuty. </a:t>
            </a:r>
            <a:r>
              <a:rPr lang="en-US" altLang="en-US" i="1" dirty="0">
                <a:solidFill>
                  <a:schemeClr val="tx1"/>
                </a:solidFill>
                <a:latin typeface="Arial" panose="020B0604020202020204" pitchFamily="34" charset="0"/>
              </a:rPr>
              <a:t>On‑Call Rotations and Schedules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 PagerDuty.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Retrieved from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hlinkClick r:id="rId5"/>
              </a:rPr>
              <a:t>https://www.pagerduty.com/resources/incident-management-response/learn/call-rotations-schedules/</a:t>
            </a:r>
            <a:endParaRPr lang="en-US" altLang="en-US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568325" lvl="1" indent="-452438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Squadcast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(2025, February 27).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On‑Call Rotation: A Complete Guide to Best Practices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Medium. Retrieved from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https://medium.com/@squadcast/on-call-rotation-a-complete-guide-to-best-practices-997b0da54499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7"/>
              </a:rPr>
              <a:t>Medium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455901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{741B1EDD-C8A1-43C1-992F-35AE2C69BEB3}TF020710ce-b2a3-4743-8ec4-0abcd2574951ef9f6aa4_win32-415a623b9e9a</Template>
  <TotalTime>36</TotalTime>
  <Words>798</Words>
  <Application>Microsoft Office PowerPoint</Application>
  <PresentationFormat>Widescreen</PresentationFormat>
  <Paragraphs>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Univers Condensed Light</vt:lpstr>
      <vt:lpstr>Walbaum Display Light</vt:lpstr>
      <vt:lpstr>AngleLinesVTI</vt:lpstr>
      <vt:lpstr>Pager Duty/On-Call Rotation Best Practices</vt:lpstr>
      <vt:lpstr>AGENDA</vt:lpstr>
      <vt:lpstr>What Is On-Call Rotation?</vt:lpstr>
      <vt:lpstr>Key Components: Make it Effective</vt:lpstr>
      <vt:lpstr>Reducing Burnout &amp; Increasing Fairness</vt:lpstr>
      <vt:lpstr>Alert Fatigue &amp; Load Optimization</vt:lpstr>
      <vt:lpstr>Handoffs, Documentation, Reviews</vt:lpstr>
      <vt:lpstr>Tools &amp; Automations</vt:lpstr>
      <vt:lpstr>Models &amp; Scheduling Variants</vt:lpstr>
      <vt:lpstr>Summary &amp; Recommendations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 Monnier</dc:creator>
  <cp:lastModifiedBy>Jess Monnier</cp:lastModifiedBy>
  <cp:revision>1</cp:revision>
  <dcterms:created xsi:type="dcterms:W3CDTF">2025-09-20T21:12:18Z</dcterms:created>
  <dcterms:modified xsi:type="dcterms:W3CDTF">2025-09-20T21:49:08Z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