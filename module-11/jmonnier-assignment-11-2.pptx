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4" r:id="rId4"/>
  </p:sldMasterIdLst>
  <p:notesMasterIdLst>
    <p:notesMasterId r:id="rId17"/>
  </p:notesMasterIdLst>
  <p:handoutMasterIdLst>
    <p:handoutMasterId r:id="rId18"/>
  </p:handoutMasterIdLst>
  <p:sldIdLst>
    <p:sldId id="295" r:id="rId5"/>
    <p:sldId id="296" r:id="rId6"/>
    <p:sldId id="297" r:id="rId7"/>
    <p:sldId id="298" r:id="rId8"/>
    <p:sldId id="294" r:id="rId9"/>
    <p:sldId id="299" r:id="rId10"/>
    <p:sldId id="303" r:id="rId11"/>
    <p:sldId id="304" r:id="rId12"/>
    <p:sldId id="305" r:id="rId13"/>
    <p:sldId id="306" r:id="rId14"/>
    <p:sldId id="307" r:id="rId15"/>
    <p:sldId id="30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9" autoAdjust="0"/>
    <p:restoredTop sz="91293" autoAdjust="0"/>
  </p:normalViewPr>
  <p:slideViewPr>
    <p:cSldViewPr snapToGrid="0">
      <p:cViewPr varScale="1">
        <p:scale>
          <a:sx n="87" d="100"/>
          <a:sy n="87" d="100"/>
        </p:scale>
        <p:origin x="888" y="300"/>
      </p:cViewPr>
      <p:guideLst/>
    </p:cSldViewPr>
  </p:slideViewPr>
  <p:outlineViewPr>
    <p:cViewPr>
      <p:scale>
        <a:sx n="33" d="100"/>
        <a:sy n="33" d="100"/>
      </p:scale>
      <p:origin x="0" y="-48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81869F-F6FC-6A0D-CE07-6B540E550E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6B6C1-6185-79F5-23C8-927538634E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1E86C-C6B4-424D-8295-67D3386172F0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5153B-EAEA-CF1E-30D7-16C2E64586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2AFB7-47EE-893B-5887-BDC37DCA5F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94707-CAF6-40B0-A7EA-C5F3C63CB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411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88D07-B188-44E4-ABBB-6994C1A5293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2455A-0D23-4EAB-9AF9-2CC2B3066B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68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77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61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77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48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960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267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584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2065D-F439-2331-3213-EB94F3E1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58C37-0267-C2E3-FB4F-D3B0BCC57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1DE87-0A04-D1E0-FAB7-389EF9AE7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0CAA1-B160-2545-9A63-35F8CC0AD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89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C8B72-D6DD-65C7-CA9D-58808B992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7E843-43F6-8A59-45B0-59F49E517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83084-CA22-180D-4180-A360D777D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387E3-AFE3-4FCE-ABAC-BC72C3886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774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224B6-89A6-F2EA-BC63-0883998B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ADBC7-D51F-B22F-CCA6-9AEFF642E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5E4D6-A4BF-FC65-3050-0DD00FFE3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31888-484C-CAB5-A402-C6A465CFE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821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1E99D-B8F3-BE6E-8565-5250EC0C5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01352-BA8E-08C2-B517-3359CFA0A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EFDE4-79DB-77C2-2BD2-5BA340231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8FB86-2951-7CCE-65AD-D1E490B6B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123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D4B66-1FBE-1470-084F-842414DE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E28AA-C6BF-8A0B-8A01-DE5D84614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B4B78-A710-3D61-7B60-F4B8D181A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CD61-FE34-C217-5D19-FEAAA1A59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035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6367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1878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3236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848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6516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8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64DCA-A9BF-A892-3059-84E13570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70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4630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775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989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591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solidFill>
            <a:schemeClr val="accent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705101"/>
            <a:ext cx="7537703" cy="2926080"/>
          </a:xfrm>
          <a:solidFill>
            <a:schemeClr val="bg1">
              <a:alpha val="93000"/>
            </a:schemeClr>
          </a:solidFill>
        </p:spPr>
        <p:txBody>
          <a:bodyPr lIns="822960" tIns="91440" bIns="548640" anchor="b" anchorCtr="0">
            <a:noAutofit/>
          </a:bodyPr>
          <a:lstStyle>
            <a:lvl1pPr>
              <a:defRPr/>
            </a:lvl1pPr>
          </a:lstStyle>
          <a:p>
            <a:r>
              <a:rPr lang="en-US" sz="5400" dirty="0">
                <a:solidFill>
                  <a:schemeClr val="tx1"/>
                </a:solidFill>
              </a:rPr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8344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08201"/>
            <a:ext cx="10058399" cy="3760891"/>
          </a:xfrm>
        </p:spPr>
        <p:txBody>
          <a:bodyPr lIns="91440">
            <a:normAutofit/>
          </a:bodyPr>
          <a:lstStyle>
            <a:lvl1pPr marL="347472" indent="-347472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3000"/>
            </a:lvl1pPr>
            <a:lvl2pPr>
              <a:spcBef>
                <a:spcPts val="1200"/>
              </a:spcBef>
              <a:spcAft>
                <a:spcPts val="200"/>
              </a:spcAft>
              <a:defRPr sz="3000"/>
            </a:lvl2pPr>
            <a:lvl3pPr>
              <a:spcBef>
                <a:spcPts val="1200"/>
              </a:spcBef>
              <a:spcAft>
                <a:spcPts val="200"/>
              </a:spcAft>
              <a:defRPr sz="3000"/>
            </a:lvl3pPr>
            <a:lvl4pPr>
              <a:spcBef>
                <a:spcPts val="1200"/>
              </a:spcBef>
              <a:spcAft>
                <a:spcPts val="200"/>
              </a:spcAft>
              <a:defRPr sz="3000"/>
            </a:lvl4pPr>
            <a:lvl5pPr>
              <a:spcBef>
                <a:spcPts val="1200"/>
              </a:spcBef>
              <a:spcAft>
                <a:spcPts val="200"/>
              </a:spcAft>
              <a:defRPr sz="3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81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82849"/>
            <a:ext cx="10058399" cy="3956692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8404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>
              <a:spcBef>
                <a:spcPts val="1200"/>
              </a:spcBef>
              <a:spcAft>
                <a:spcPts val="200"/>
              </a:spcAft>
              <a:defRPr sz="2400"/>
            </a:lvl3pPr>
            <a:lvl4pPr>
              <a:spcBef>
                <a:spcPts val="1200"/>
              </a:spcBef>
              <a:spcAft>
                <a:spcPts val="200"/>
              </a:spcAft>
              <a:defRPr sz="2400"/>
            </a:lvl4pPr>
            <a:lvl5pPr>
              <a:spcBef>
                <a:spcPts val="1200"/>
              </a:spcBef>
              <a:spcAft>
                <a:spcPts val="200"/>
              </a:spcAft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53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1" y="2183367"/>
            <a:ext cx="4998720" cy="3914850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47472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BEAF6B01-7E55-3A14-DE85-588680B0910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503438" y="2183367"/>
            <a:ext cx="4672294" cy="3914850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47472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1363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5F368C9-4803-45FD-A0BA-26B5679AF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79" y="286603"/>
            <a:ext cx="9966960" cy="145075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EEE198-C7B9-2C56-05AC-997ADD4EE0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94560"/>
            <a:ext cx="6024003" cy="3754425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None/>
              <a:defRPr sz="2400"/>
            </a:lvl1pPr>
            <a:lvl2pPr marL="347472" indent="-347472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244AF500-76F9-CD01-586B-E1B35B735F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06640" y="2194560"/>
            <a:ext cx="4067175" cy="3754425"/>
          </a:xfrm>
          <a:solidFill>
            <a:schemeClr val="tx1">
              <a:lumMod val="85000"/>
              <a:lumOff val="15000"/>
            </a:schemeClr>
          </a:solidFill>
        </p:spPr>
        <p:txBody>
          <a:bodyPr lIns="274320" tIns="274320" rIns="274320" bIns="274320">
            <a:normAutofit/>
          </a:bodyPr>
          <a:lstStyle>
            <a:lvl1pPr marL="512064" indent="-512064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65836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2pPr>
            <a:lvl3pPr marL="84124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3pPr>
            <a:lvl4pPr marL="102412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4pPr>
            <a:lvl5pPr marL="120700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1493E3-605E-569A-BC16-ACFDDE98E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7280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303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and 2 Columns Lef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5F368C9-4803-45FD-A0BA-26B5679AF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676" y="286603"/>
            <a:ext cx="6024004" cy="17885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487FB7-F6EE-0454-5FB0-228B2EBCB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30366" y="2166571"/>
            <a:ext cx="603012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E27ABCA-7CD7-B1C6-D787-E3B8959F7FE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9763" y="287338"/>
            <a:ext cx="4067175" cy="2801123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244AF500-76F9-CD01-586B-E1B35B735F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9763" y="3416796"/>
            <a:ext cx="4067175" cy="2801124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EEE198-C7B9-2C56-05AC-997ADD4EE0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1676" y="2258012"/>
            <a:ext cx="6024003" cy="3959908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None/>
              <a:defRPr sz="2400"/>
            </a:lvl1pPr>
            <a:lvl2pPr>
              <a:spcBef>
                <a:spcPts val="1200"/>
              </a:spcBef>
              <a:spcAft>
                <a:spcPts val="200"/>
              </a:spcAft>
              <a:defRPr sz="2000"/>
            </a:lvl2pPr>
            <a:lvl3pPr>
              <a:spcBef>
                <a:spcPts val="1200"/>
              </a:spcBef>
              <a:spcAft>
                <a:spcPts val="200"/>
              </a:spcAft>
              <a:defRPr sz="1600"/>
            </a:lvl3pPr>
            <a:lvl4pPr>
              <a:spcBef>
                <a:spcPts val="1200"/>
              </a:spcBef>
              <a:spcAft>
                <a:spcPts val="200"/>
              </a:spcAft>
              <a:defRPr sz="1600"/>
            </a:lvl4pPr>
            <a:lvl5pPr>
              <a:spcBef>
                <a:spcPts val="1200"/>
              </a:spcBef>
              <a:spcAft>
                <a:spcPts val="200"/>
              </a:spcAft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25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n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DE7C46-EBCB-4558-B868-C6E743BAE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7474" y="640080"/>
            <a:ext cx="7229518" cy="51138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ED5FBCAA-65CF-CE8D-2A57-F07A559D6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051" y="839520"/>
            <a:ext cx="6546596" cy="1729252"/>
          </a:xfrm>
        </p:spPr>
        <p:txBody>
          <a:bodyPr lIns="18288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A471100-D8FC-C6A3-1AB4-9E0BBF5AA8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5050" y="2878052"/>
            <a:ext cx="3152775" cy="2557463"/>
          </a:xfrm>
        </p:spPr>
        <p:txBody>
          <a:bodyPr lIns="9144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31FFC008-9C4B-BB79-13EF-E3E28AF0285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428872" y="2878052"/>
            <a:ext cx="3152775" cy="2557463"/>
          </a:xfrm>
        </p:spPr>
        <p:txBody>
          <a:bodyPr lIns="9144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4FE1E40-4668-3A25-AAEB-34B59D71BB2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556170" y="839520"/>
            <a:ext cx="2600779" cy="4915168"/>
          </a:xfrm>
          <a:noFill/>
        </p:spPr>
        <p:txBody>
          <a:bodyPr/>
          <a:lstStyle>
            <a:lvl1pPr marL="457200" indent="-4572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1pPr>
            <a:lvl2pPr marL="54406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2pPr>
            <a:lvl3pPr marL="72694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3pPr>
            <a:lvl4pPr marL="90982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4pPr>
            <a:lvl5pPr marL="1092708" indent="-342900">
              <a:spcBef>
                <a:spcPts val="1200"/>
              </a:spcBef>
              <a:spcAft>
                <a:spcPts val="200"/>
              </a:spcAft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592754-9FDD-4637-8931-8898DCEA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4A9276-3942-47EA-B16C-FEF66FB6F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2128" y="2723126"/>
            <a:ext cx="646743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183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56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80" r:id="rId14"/>
    <p:sldLayoutId id="2147483782" r:id="rId15"/>
    <p:sldLayoutId id="2147483783" r:id="rId16"/>
    <p:sldLayoutId id="2147483784" r:id="rId17"/>
    <p:sldLayoutId id="2147483786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pr.org/2021/04/16/985439655/a-worst-nightmare-cyberattack-the-untold-story-of-the-solarwinds-hack?utm_source=chatgpt.com" TargetMode="External"/><Relationship Id="rId3" Type="http://schemas.openxmlformats.org/officeDocument/2006/relationships/hyperlink" Target="https://get.assembla.com/blog/source-code-security/?utm_source=chatgpt.com" TargetMode="External"/><Relationship Id="rId7" Type="http://schemas.openxmlformats.org/officeDocument/2006/relationships/hyperlink" Target="https://www.ncsc.gov.uk/collection/developers-collection/principles/protect-your-code-repositor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encryptionconsulting.com/are-code-repositories-safe-for-your-source-code/" TargetMode="External"/><Relationship Id="rId5" Type="http://schemas.openxmlformats.org/officeDocument/2006/relationships/hyperlink" Target="https://www.encryptionconsulting.com/are-code-repositories-safe-for-your-source-code/?utm_source=chatgpt.com" TargetMode="External"/><Relationship Id="rId4" Type="http://schemas.openxmlformats.org/officeDocument/2006/relationships/hyperlink" Target="https://get.assembla.com/blog/source-code-securit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group of people sitting at a table">
            <a:extLst>
              <a:ext uri="{FF2B5EF4-FFF2-40B4-BE49-F238E27FC236}">
                <a16:creationId xmlns:a16="http://schemas.microsoft.com/office/drawing/2014/main" id="{6BEAD192-141F-FDDE-021B-8674B81EEC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C834208-78D3-55FF-0568-AC7434753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05101"/>
            <a:ext cx="7537703" cy="2825366"/>
          </a:xfrm>
        </p:spPr>
        <p:txBody>
          <a:bodyPr/>
          <a:lstStyle/>
          <a:p>
            <a:r>
              <a:rPr lang="en-US" dirty="0"/>
              <a:t>Best Practices for Securely Using Shared Code Repositories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EE29CE94-0547-5EF7-F5AF-C88DBCA65683}"/>
              </a:ext>
            </a:extLst>
          </p:cNvPr>
          <p:cNvSpPr txBox="1">
            <a:spLocks/>
          </p:cNvSpPr>
          <p:nvPr/>
        </p:nvSpPr>
        <p:spPr>
          <a:xfrm>
            <a:off x="-1" y="5530467"/>
            <a:ext cx="7537703" cy="220337"/>
          </a:xfrm>
          <a:prstGeom prst="rect">
            <a:avLst/>
          </a:prstGeom>
          <a:solidFill>
            <a:schemeClr val="bg1">
              <a:alpha val="93000"/>
            </a:schemeClr>
          </a:solidFill>
        </p:spPr>
        <p:txBody>
          <a:bodyPr vert="horz" lIns="822960" tIns="91440" rIns="91440" bIns="54864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rgbClr val="404040"/>
                </a:solidFill>
                <a:effectLst/>
                <a:latin typeface="Calibri Light" panose="020F0302020204030204" pitchFamily="34" charset="0"/>
              </a:rPr>
              <a:t>Jess Monnier | CSD-380 Assignment 11.2 | October 5, 2025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7687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4E67-57A4-9825-9E94-C2B258A68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C3D74-CBD0-AEEC-7CF1-ED875B10D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should you care about securing shared repositories?</a:t>
            </a:r>
          </a:p>
          <a:p>
            <a:pPr marL="0" indent="0">
              <a:buNone/>
            </a:pPr>
            <a:r>
              <a:rPr lang="en-US" dirty="0"/>
              <a:t>If it’s not sufficiently secured, you run greater risk of:</a:t>
            </a:r>
          </a:p>
          <a:p>
            <a:r>
              <a:rPr lang="en-US" dirty="0"/>
              <a:t>Intellectual Property (IP) theft</a:t>
            </a:r>
          </a:p>
          <a:p>
            <a:r>
              <a:rPr lang="en-US" dirty="0"/>
              <a:t>Compromise of your product (e.g. exploiting a vulnerability)</a:t>
            </a:r>
          </a:p>
          <a:p>
            <a:r>
              <a:rPr lang="en-US" dirty="0"/>
              <a:t>Supply chain attacks</a:t>
            </a:r>
          </a:p>
          <a:p>
            <a:r>
              <a:rPr lang="en-US" dirty="0"/>
              <a:t>Reputational damage</a:t>
            </a:r>
          </a:p>
        </p:txBody>
      </p:sp>
    </p:spTree>
    <p:extLst>
      <p:ext uri="{BB962C8B-B14F-4D97-AF65-F5344CB8AC3E}">
        <p14:creationId xmlns:p14="http://schemas.microsoft.com/office/powerpoint/2010/main" val="364816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6819-AA5B-295D-8572-4858952D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Landscape &amp; Common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3709-886B-3B06-E9F0-11D361B52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049" y="2138781"/>
            <a:ext cx="6085718" cy="3956692"/>
          </a:xfrm>
        </p:spPr>
        <p:txBody>
          <a:bodyPr>
            <a:normAutofit/>
          </a:bodyPr>
          <a:lstStyle/>
          <a:p>
            <a:r>
              <a:rPr lang="en-US" dirty="0"/>
              <a:t>Some key threats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Credential leakage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Malicious pull requests or poisoned commits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Compromised developer machines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Dependency confusion attacks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Insider threats or privilege misuse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742F3-E264-9935-E224-C9F39A29B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67" y="2053997"/>
            <a:ext cx="5628253" cy="41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31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AD8A-1DD0-5798-279E-723AFBF21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Repository Platforms &amp; Hosting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50FB-473C-3BEA-8431-B03765A89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Practices:</a:t>
            </a:r>
          </a:p>
          <a:p>
            <a:pPr lvl="1"/>
            <a:r>
              <a:rPr lang="en-US" dirty="0"/>
              <a:t>Use reputable platforms</a:t>
            </a:r>
          </a:p>
          <a:p>
            <a:pPr lvl="1"/>
            <a:r>
              <a:rPr lang="en-US" dirty="0"/>
              <a:t>When using cloud-hosting, look for enterprise security options</a:t>
            </a:r>
          </a:p>
          <a:p>
            <a:pPr lvl="1"/>
            <a:r>
              <a:rPr lang="en-US" dirty="0"/>
              <a:t>Enable encryption at rest and in transit</a:t>
            </a:r>
          </a:p>
          <a:p>
            <a:pPr lvl="1"/>
            <a:r>
              <a:rPr lang="en-US" dirty="0"/>
              <a:t>Add cryptographic verification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CFD42C-9F4E-2D2B-754C-DED3325D89C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Example reputable platforms:</a:t>
            </a:r>
          </a:p>
          <a:p>
            <a:pPr lvl="1"/>
            <a:r>
              <a:rPr lang="en-US" dirty="0"/>
              <a:t>GitHub, GitLab, Bitbucket</a:t>
            </a:r>
          </a:p>
          <a:p>
            <a:r>
              <a:rPr lang="en-US" dirty="0"/>
              <a:t>Example security features to use:</a:t>
            </a:r>
          </a:p>
          <a:p>
            <a:pPr lvl="1"/>
            <a:r>
              <a:rPr lang="en-US" dirty="0"/>
              <a:t>SSO, audit logging, HTTPS, SSH, commit/tag signing</a:t>
            </a:r>
          </a:p>
        </p:txBody>
      </p:sp>
    </p:spTree>
    <p:extLst>
      <p:ext uri="{BB962C8B-B14F-4D97-AF65-F5344CB8AC3E}">
        <p14:creationId xmlns:p14="http://schemas.microsoft.com/office/powerpoint/2010/main" val="428821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1CDF-C16E-D9FB-0490-6752F3BA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&amp; Authentication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F8E5A-CF7D-4AEA-7B11-1CF53A729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Ensure access to repositories is tightly controlled with these best practices:</a:t>
            </a:r>
          </a:p>
          <a:p>
            <a:pPr lvl="1"/>
            <a:r>
              <a:rPr lang="en-US" dirty="0"/>
              <a:t>“Least privilege” and/or role-based access control (RBAC)</a:t>
            </a:r>
          </a:p>
          <a:p>
            <a:pPr lvl="1"/>
            <a:r>
              <a:rPr lang="en-US" dirty="0"/>
              <a:t>Multi-factor authentication (MFA)</a:t>
            </a:r>
          </a:p>
          <a:p>
            <a:pPr lvl="1"/>
            <a:r>
              <a:rPr lang="en-US" dirty="0"/>
              <a:t>Rotate credentials &amp; access tokens regularly</a:t>
            </a:r>
          </a:p>
          <a:p>
            <a:pPr lvl="1"/>
            <a:r>
              <a:rPr lang="en-US" dirty="0"/>
              <a:t>Disable inactive users promptly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4F7D-6361-80D6-276E-7CF274A9DF13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Real world examples:</a:t>
            </a:r>
          </a:p>
          <a:p>
            <a:r>
              <a:rPr lang="en-US" dirty="0"/>
              <a:t>GitHub requires 2FA for contributors in popular projects (since 2023).</a:t>
            </a:r>
          </a:p>
          <a:p>
            <a:r>
              <a:rPr lang="en-US" dirty="0"/>
              <a:t>GitLab does not allow account sharing; each user must authenticate with their own identity.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7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16DB-BC4C-330B-1179-90F5684F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Secrets Management &amp; Sensitive Data Protection</a:t>
            </a:r>
          </a:p>
        </p:txBody>
      </p:sp>
      <p:pic>
        <p:nvPicPr>
          <p:cNvPr id="6" name="Content Placeholder 14" descr="Office clerk searching for files">
            <a:extLst>
              <a:ext uri="{FF2B5EF4-FFF2-40B4-BE49-F238E27FC236}">
                <a16:creationId xmlns:a16="http://schemas.microsoft.com/office/drawing/2014/main" id="{08637BD7-EBE7-9B0F-2D96-E02697A450F5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40888" y="288896"/>
            <a:ext cx="4064924" cy="2797233"/>
          </a:xfrm>
        </p:spPr>
      </p:pic>
      <p:pic>
        <p:nvPicPr>
          <p:cNvPr id="7" name="Content Placeholder 19" descr="Three women brainstorming">
            <a:extLst>
              <a:ext uri="{FF2B5EF4-FFF2-40B4-BE49-F238E27FC236}">
                <a16:creationId xmlns:a16="http://schemas.microsoft.com/office/drawing/2014/main" id="{C5646C18-01E0-75C8-7655-4411D8143C91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39763" y="3417230"/>
            <a:ext cx="4067175" cy="2800077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71E581-3C99-81DE-3F57-81E7595DC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protect sensitive data…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Never hard-code credentials, API keys, tokens,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secret management tools like </a:t>
            </a:r>
            <a:r>
              <a:rPr lang="en-US" dirty="0" err="1"/>
              <a:t>HashiCorp</a:t>
            </a:r>
            <a:r>
              <a:rPr lang="en-US" dirty="0"/>
              <a:t> Vault or AWS Secrets Manager.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Run automated secrets scanners before commits.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.</a:t>
            </a:r>
            <a:r>
              <a:rPr lang="en-US" dirty="0" err="1"/>
              <a:t>gitignore</a:t>
            </a:r>
            <a:r>
              <a:rPr lang="en-US" dirty="0"/>
              <a:t> rules for configuration files and other sensitive data.</a:t>
            </a:r>
          </a:p>
        </p:txBody>
      </p:sp>
    </p:spTree>
    <p:extLst>
      <p:ext uri="{BB962C8B-B14F-4D97-AF65-F5344CB8AC3E}">
        <p14:creationId xmlns:p14="http://schemas.microsoft.com/office/powerpoint/2010/main" val="1900868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13C2-6656-2A43-ABCE-B021D6A35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 Review, Branch Protection, &amp; Workflow Policies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388F45F-4CEA-2255-ACB1-3478FBC2A03C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Enable branch protection rules</a:t>
            </a:r>
          </a:p>
          <a:p>
            <a:pPr lvl="1"/>
            <a:r>
              <a:rPr lang="en-US" dirty="0"/>
              <a:t>E.g. no direct pushes to main</a:t>
            </a:r>
          </a:p>
          <a:p>
            <a:r>
              <a:rPr lang="en-US" dirty="0"/>
              <a:t>Manage code merges</a:t>
            </a:r>
          </a:p>
          <a:p>
            <a:pPr lvl="1"/>
            <a:r>
              <a:rPr lang="en-US" dirty="0"/>
              <a:t>Require pull request reviews and approvals</a:t>
            </a:r>
          </a:p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22309C3-D1EC-FAF3-C7BF-F5FF58E6BD33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CI checks</a:t>
            </a:r>
          </a:p>
          <a:p>
            <a:pPr lvl="1"/>
            <a:r>
              <a:rPr lang="en-US" dirty="0"/>
              <a:t>Require passing them before merging code</a:t>
            </a:r>
          </a:p>
          <a:p>
            <a:r>
              <a:rPr lang="en-US" dirty="0"/>
              <a:t>Prevent code loss</a:t>
            </a:r>
          </a:p>
          <a:p>
            <a:pPr lvl="1"/>
            <a:r>
              <a:rPr lang="en-US" dirty="0"/>
              <a:t>Don’t allow force-push or deletion of protected branches</a:t>
            </a:r>
          </a:p>
          <a:p>
            <a:endParaRPr lang="en-US" dirty="0"/>
          </a:p>
        </p:txBody>
      </p:sp>
      <p:pic>
        <p:nvPicPr>
          <p:cNvPr id="7" name="Picture 6" descr="People checking a computer">
            <a:extLst>
              <a:ext uri="{FF2B5EF4-FFF2-40B4-BE49-F238E27FC236}">
                <a16:creationId xmlns:a16="http://schemas.microsoft.com/office/drawing/2014/main" id="{8E79652A-3867-0C1D-3CDE-4C9314487C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94" r="30330"/>
          <a:stretch>
            <a:fillRect/>
          </a:stretch>
        </p:blipFill>
        <p:spPr>
          <a:xfrm>
            <a:off x="7921128" y="660363"/>
            <a:ext cx="4109292" cy="507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30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E338-DE94-4DD6-6315-3F141E82A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EF98-D487-0326-DA94-FD65D1B54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Scanning &amp; CI/CD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1899B-5D42-B77A-782D-3D075EC86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83367"/>
            <a:ext cx="10058399" cy="3914850"/>
          </a:xfrm>
        </p:spPr>
        <p:txBody>
          <a:bodyPr/>
          <a:lstStyle/>
          <a:p>
            <a:r>
              <a:rPr lang="en-US" dirty="0"/>
              <a:t>Automate security checks during development to ensure consistency. Best practices include:</a:t>
            </a:r>
          </a:p>
          <a:p>
            <a:pPr lvl="1"/>
            <a:r>
              <a:rPr lang="en-US" dirty="0"/>
              <a:t>Integrate static testing tools in the pipeline</a:t>
            </a:r>
          </a:p>
          <a:p>
            <a:pPr lvl="1"/>
            <a:r>
              <a:rPr lang="en-US" dirty="0"/>
              <a:t>Use dependency vulnerability scanners</a:t>
            </a:r>
          </a:p>
          <a:p>
            <a:pPr lvl="1"/>
            <a:r>
              <a:rPr lang="en-US" dirty="0"/>
              <a:t>Scan for misconfigurations or exposed data</a:t>
            </a:r>
          </a:p>
        </p:txBody>
      </p:sp>
    </p:spTree>
    <p:extLst>
      <p:ext uri="{BB962C8B-B14F-4D97-AF65-F5344CB8AC3E}">
        <p14:creationId xmlns:p14="http://schemas.microsoft.com/office/powerpoint/2010/main" val="34845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CF581-4C5F-122D-3BC6-27EC60E2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61443-5A45-659D-AD9B-AC65F1E6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Monitoring, Logging, &amp; Backups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1C39C4-79D3-6BD3-3A0B-65B922D80A4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3467" y="2546224"/>
            <a:ext cx="3448259" cy="3342747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90000"/>
              </a:lnSpc>
              <a:buFont typeface="Calibri" panose="020F0502020204030204" pitchFamily="34" charset="0"/>
            </a:pPr>
            <a:r>
              <a:rPr lang="en-US" sz="1700">
                <a:solidFill>
                  <a:srgbClr val="FFFFFF"/>
                </a:solidFill>
              </a:rPr>
              <a:t>Ensure you can detect, investigate, and recover from incidents with these best practices:</a:t>
            </a:r>
          </a:p>
          <a:p>
            <a:pPr marL="342900" indent="-34290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sz="1700">
                <a:solidFill>
                  <a:srgbClr val="FFFFFF"/>
                </a:solidFill>
              </a:rPr>
              <a:t>Enable audit logs for repository accesses and changes</a:t>
            </a:r>
          </a:p>
          <a:p>
            <a:pPr marL="342900" indent="-34290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sz="1700">
                <a:solidFill>
                  <a:srgbClr val="FFFFFF"/>
                </a:solidFill>
              </a:rPr>
              <a:t>Review logs for suspicious behavior</a:t>
            </a:r>
          </a:p>
          <a:p>
            <a:pPr marL="342900" indent="-34290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sz="1700">
                <a:solidFill>
                  <a:srgbClr val="FFFFFF"/>
                </a:solidFill>
              </a:rPr>
              <a:t>Implement backup policies for repositories</a:t>
            </a:r>
          </a:p>
          <a:p>
            <a:pPr marL="342900" indent="-342900">
              <a:lnSpc>
                <a:spcPct val="90000"/>
              </a:lnSpc>
              <a:buFont typeface="Calibri" panose="020F0502020204030204" pitchFamily="34" charset="0"/>
              <a:buChar char="•"/>
            </a:pPr>
            <a:r>
              <a:rPr lang="en-US" sz="1700">
                <a:solidFill>
                  <a:srgbClr val="FFFFFF"/>
                </a:solidFill>
              </a:rPr>
              <a:t>Use integrity checks and commit signing to detect tampering</a:t>
            </a:r>
          </a:p>
        </p:txBody>
      </p:sp>
      <p:pic>
        <p:nvPicPr>
          <p:cNvPr id="8" name="Picture 7" descr="Businessperson on a computer">
            <a:extLst>
              <a:ext uri="{FF2B5EF4-FFF2-40B4-BE49-F238E27FC236}">
                <a16:creationId xmlns:a16="http://schemas.microsoft.com/office/drawing/2014/main" id="{A8AE30C8-6803-EE6A-0FC4-EB735CE580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05" r="10470"/>
          <a:stretch>
            <a:fillRect/>
          </a:stretch>
        </p:blipFill>
        <p:spPr>
          <a:xfrm>
            <a:off x="4654296" y="10"/>
            <a:ext cx="753770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912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84E2-22EA-2A19-C54E-DF8173BC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52BDA-0968-B7E8-54B0-6D358D324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Incident Response &amp; Key Revocation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D5FFE-576F-B373-E06B-9DEDEA5EA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Mistakes happen, but you can ensure they’re handled appropriately with best practices like these:</a:t>
            </a:r>
          </a:p>
          <a:p>
            <a:r>
              <a:rPr lang="en-US" dirty="0"/>
              <a:t>Have a clear incident response plan</a:t>
            </a:r>
          </a:p>
          <a:p>
            <a:r>
              <a:rPr lang="en-US" dirty="0"/>
              <a:t>Revoke compromised credentials immediately</a:t>
            </a:r>
          </a:p>
          <a:p>
            <a:r>
              <a:rPr lang="en-US" dirty="0"/>
              <a:t>Rotate secrets/keys if they could be exposed</a:t>
            </a:r>
          </a:p>
          <a:p>
            <a:r>
              <a:rPr lang="en-US" dirty="0"/>
              <a:t>Audit recent code changes and roll back if needed</a:t>
            </a:r>
          </a:p>
        </p:txBody>
      </p:sp>
    </p:spTree>
    <p:extLst>
      <p:ext uri="{BB962C8B-B14F-4D97-AF65-F5344CB8AC3E}">
        <p14:creationId xmlns:p14="http://schemas.microsoft.com/office/powerpoint/2010/main" val="967967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3F8E9-4E91-5934-6E33-15D70B12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0E58038-8ACE-4AD9-B404-25C603550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Close up of checklist">
            <a:extLst>
              <a:ext uri="{FF2B5EF4-FFF2-40B4-BE49-F238E27FC236}">
                <a16:creationId xmlns:a16="http://schemas.microsoft.com/office/drawing/2014/main" id="{40665ED1-61C2-24E8-C438-497C04FF9E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11606" b="412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478F7F-D67B-BE5B-4A1D-856A5115E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Summary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8A34772-9011-42B5-AA63-FD6DEC9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910746"/>
            <a:ext cx="99669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D0A7C-AE74-AA66-FE16-A7CD6FE0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 vert="horz" lIns="0" tIns="45720" rIns="0" bIns="45720" rtlCol="0">
            <a:normAutofit/>
          </a:bodyPr>
          <a:lstStyle/>
          <a:p>
            <a:pPr lvl="1">
              <a:buFont typeface="Calibri" panose="020F0502020204030204" pitchFamily="34" charset="0"/>
            </a:pPr>
            <a:r>
              <a:rPr lang="en-US" dirty="0"/>
              <a:t>Use secure platforms with MFA</a:t>
            </a:r>
            <a:endParaRPr lang="en-US"/>
          </a:p>
          <a:p>
            <a:pPr lvl="1">
              <a:buFont typeface="Calibri" panose="020F0502020204030204" pitchFamily="34" charset="0"/>
            </a:pPr>
            <a:r>
              <a:rPr lang="en-US" dirty="0"/>
              <a:t>Enforce branch protection and code reviews</a:t>
            </a:r>
            <a:endParaRPr lang="en-US"/>
          </a:p>
          <a:p>
            <a:pPr lvl="1">
              <a:buFont typeface="Calibri" panose="020F0502020204030204" pitchFamily="34" charset="0"/>
            </a:pPr>
            <a:r>
              <a:rPr lang="en-US" dirty="0"/>
              <a:t>Scan for secrets and vulnerabilities</a:t>
            </a:r>
            <a:endParaRPr lang="en-US"/>
          </a:p>
          <a:p>
            <a:pPr lvl="1">
              <a:buFont typeface="Calibri" panose="020F0502020204030204" pitchFamily="34" charset="0"/>
            </a:pPr>
            <a:r>
              <a:rPr lang="en-US" dirty="0"/>
              <a:t>Control/monitor access with RBAC and audit logging</a:t>
            </a:r>
            <a:endParaRPr lang="en-US"/>
          </a:p>
          <a:p>
            <a:pPr lvl="1">
              <a:buFont typeface="Calibri" panose="020F0502020204030204" pitchFamily="34" charset="0"/>
            </a:pPr>
            <a:r>
              <a:rPr lang="en-US" dirty="0"/>
              <a:t>Have backups, monitoring, and incident plans in place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BCDE19-2810-4337-9C49-8589C42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00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4741D-6716-C803-3C74-1475B3E4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77B2-903B-F7D3-2C13-FB57C6AD1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3B1D-85D8-B48B-63E7-5CD5BE5EB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Fernandes, C. (2025, April 6). </a:t>
            </a:r>
            <a:r>
              <a:rPr lang="en-US" i="1" dirty="0"/>
              <a:t>Source Code Security Best Practices: A Complete Guide</a:t>
            </a:r>
            <a:r>
              <a:rPr lang="en-US" dirty="0"/>
              <a:t>. </a:t>
            </a:r>
            <a:r>
              <a:rPr lang="en-US" dirty="0" err="1"/>
              <a:t>Assembla</a:t>
            </a:r>
            <a:r>
              <a:rPr lang="en-US" dirty="0"/>
              <a:t>. Retrieved from </a:t>
            </a:r>
            <a:r>
              <a:rPr lang="en-US" dirty="0">
                <a:hlinkClick r:id="rId3"/>
              </a:rPr>
              <a:t>https://get.assembla.com/blog/source-code-security/</a:t>
            </a:r>
            <a:r>
              <a:rPr lang="en-US" dirty="0"/>
              <a:t> </a:t>
            </a:r>
            <a:r>
              <a:rPr lang="en-US" dirty="0" err="1">
                <a:hlinkClick r:id="rId4"/>
              </a:rPr>
              <a:t>Assembla</a:t>
            </a:r>
            <a:endParaRPr lang="en-US" dirty="0"/>
          </a:p>
          <a:p>
            <a:r>
              <a:rPr lang="en-US" dirty="0"/>
              <a:t>Kumar, A. (2024, October 21). </a:t>
            </a:r>
            <a:r>
              <a:rPr lang="en-US" i="1" dirty="0"/>
              <a:t>Are Code Repositories Safe for Your Source Code?</a:t>
            </a:r>
            <a:r>
              <a:rPr lang="en-US" dirty="0"/>
              <a:t> Encryption Consulting. Retrieved from </a:t>
            </a:r>
            <a:r>
              <a:rPr lang="en-US" dirty="0">
                <a:hlinkClick r:id="rId5"/>
              </a:rPr>
              <a:t>https://www.encryptionconsulting.com/are-code-repositories-safe-for-your-source-code/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Encryption Consulting</a:t>
            </a:r>
            <a:endParaRPr lang="en-US" dirty="0"/>
          </a:p>
          <a:p>
            <a:r>
              <a:rPr lang="en-US" dirty="0"/>
              <a:t>National Cyber Security Centre (NCSC). (2019, February 20). </a:t>
            </a:r>
            <a:r>
              <a:rPr lang="en-US" i="1" dirty="0"/>
              <a:t>Protect your code repository</a:t>
            </a:r>
            <a:r>
              <a:rPr lang="en-US" dirty="0"/>
              <a:t>. In </a:t>
            </a:r>
            <a:r>
              <a:rPr lang="en-US" b="1" dirty="0"/>
              <a:t>Secure development and deployment</a:t>
            </a:r>
            <a:r>
              <a:rPr lang="en-US" dirty="0"/>
              <a:t>. Retrieved from </a:t>
            </a:r>
            <a:r>
              <a:rPr lang="en-US" dirty="0">
                <a:hlinkClick r:id="rId7"/>
              </a:rPr>
              <a:t>https://www.ncsc.gov.uk/collection/developers-collection/principles/protect-your-code-repository</a:t>
            </a:r>
            <a:endParaRPr lang="en-US" dirty="0"/>
          </a:p>
          <a:p>
            <a:r>
              <a:rPr lang="en-US" dirty="0"/>
              <a:t>Temple‑</a:t>
            </a:r>
            <a:r>
              <a:rPr lang="en-US" dirty="0" err="1"/>
              <a:t>Raston</a:t>
            </a:r>
            <a:r>
              <a:rPr lang="en-US" dirty="0"/>
              <a:t>, D. (2021, April 16). </a:t>
            </a:r>
            <a:r>
              <a:rPr lang="en-US" i="1" dirty="0"/>
              <a:t>A ‘Worst Nightmare’ Cyberattack: The Untold Story of the SolarWinds Hack</a:t>
            </a:r>
            <a:r>
              <a:rPr lang="en-US" dirty="0"/>
              <a:t>. NPR. Retrieved from </a:t>
            </a:r>
            <a:r>
              <a:rPr lang="en-US" dirty="0">
                <a:hlinkClick r:id="rId8"/>
              </a:rPr>
              <a:t>https://www.npr.org/2021/04/16/985439655/a-worst-nightmare-cyberattack-the-untold-story-of-the-solarwinds-hack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8798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887178-918B-41B5-90B5-AF84E76A42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E6FD3E-3033-4D44-9759-980DCC3E7F4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FDF0338-C524-4CF6-9268-3569B65741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{DF665648-28AA-4CBB-9F7C-00AA89678655}TF776e3e59-1204-479e-95b5-5e72eaac51ab78076569_win32-dba623c40f6b</Template>
  <TotalTime>39</TotalTime>
  <Words>674</Words>
  <Application>Microsoft Office PowerPoint</Application>
  <PresentationFormat>Widescreen</PresentationFormat>
  <Paragraphs>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RetrospectVTI</vt:lpstr>
      <vt:lpstr>Best Practices for Securely Using Shared Code Repositories</vt:lpstr>
      <vt:lpstr>Introduction</vt:lpstr>
      <vt:lpstr>Threat Landscape &amp; Common Risks</vt:lpstr>
      <vt:lpstr>Secure Repository Platforms &amp; Hosting Choices</vt:lpstr>
      <vt:lpstr>Access Control &amp; Authentication</vt:lpstr>
      <vt:lpstr>Secrets Management &amp; Sensitive Data Protection</vt:lpstr>
      <vt:lpstr>Code Review, Branch Protection, &amp; Workflow Policies</vt:lpstr>
      <vt:lpstr>Security Scanning &amp; CI/CD Integration</vt:lpstr>
      <vt:lpstr>Monitoring, Logging, &amp; Backups</vt:lpstr>
      <vt:lpstr>Incident Response &amp; Key Revocation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 Monnier</dc:creator>
  <cp:lastModifiedBy>Jess Monnier</cp:lastModifiedBy>
  <cp:revision>1</cp:revision>
  <dcterms:created xsi:type="dcterms:W3CDTF">2025-10-05T23:57:08Z</dcterms:created>
  <dcterms:modified xsi:type="dcterms:W3CDTF">2025-10-06T00:36:35Z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